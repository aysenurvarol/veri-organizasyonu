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  <p:sldId id="267" r:id="rId12"/>
    <p:sldId id="269" r:id="rId13"/>
    <p:sldId id="268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95" d="100"/>
          <a:sy n="95" d="100"/>
        </p:scale>
        <p:origin x="67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 ve B+ Ağaçlarının Günümüzde Kullanım Alanları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B-</a:t>
            </a:r>
            <a:r>
              <a:rPr lang="tr-TR" b="1" dirty="0" err="1"/>
              <a:t>Tree</a:t>
            </a:r>
            <a:r>
              <a:rPr lang="tr-TR" b="1" dirty="0"/>
              <a:t> ve B+ </a:t>
            </a:r>
            <a:r>
              <a:rPr lang="tr-TR" b="1" dirty="0" err="1"/>
              <a:t>Tree</a:t>
            </a:r>
            <a:r>
              <a:rPr lang="tr-TR" b="1" dirty="0"/>
              <a:t> Nedir?</a:t>
            </a:r>
          </a:p>
          <a:p>
            <a:r>
              <a:rPr lang="tr-TR" dirty="0"/>
              <a:t>Büyük miktardaki verileri düzenli saklamak için kullanılan veri yapılarıdır.</a:t>
            </a:r>
          </a:p>
          <a:p>
            <a:r>
              <a:rPr lang="tr-TR" dirty="0"/>
              <a:t>Veriye hızlı erişim sağlar.</a:t>
            </a:r>
          </a:p>
          <a:p>
            <a:r>
              <a:rPr lang="tr-TR" dirty="0"/>
              <a:t>Disk erişim sayısını azaltır.</a:t>
            </a:r>
          </a:p>
          <a:p>
            <a:r>
              <a:rPr lang="tr-TR" dirty="0"/>
              <a:t>Özellikle veri tabanlarında ve dosya sistemlerinde kullanılır</a:t>
            </a:r>
            <a:r>
              <a:rPr lang="tr-TR" dirty="0" smtClean="0"/>
              <a:t>.</a:t>
            </a:r>
          </a:p>
          <a:p>
            <a:r>
              <a:rPr lang="tr-TR" dirty="0"/>
              <a:t>Günümüzde milyarlarca veri üretilmektedir. Bu verilerin hızlı şekilde bulunabilmesi için özel veri yapıları kullanılmaktadır. B-</a:t>
            </a:r>
            <a:r>
              <a:rPr lang="tr-TR" dirty="0" err="1"/>
              <a:t>Tree</a:t>
            </a:r>
            <a:r>
              <a:rPr lang="tr-TR" dirty="0"/>
              <a:t> ve B+ </a:t>
            </a:r>
            <a:r>
              <a:rPr lang="tr-TR" dirty="0" err="1"/>
              <a:t>Tree</a:t>
            </a:r>
            <a:r>
              <a:rPr lang="tr-TR" dirty="0"/>
              <a:t> bu yapıların en önemlilerindendir</a:t>
            </a:r>
          </a:p>
        </p:txBody>
      </p:sp>
    </p:spTree>
    <p:extLst>
      <p:ext uri="{BB962C8B-B14F-4D97-AF65-F5344CB8AC3E}">
        <p14:creationId xmlns:p14="http://schemas.microsoft.com/office/powerpoint/2010/main" val="3711689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B-TREE YAPISI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364683"/>
          </a:xfrm>
        </p:spPr>
        <p:txBody>
          <a:bodyPr>
            <a:normAutofit lnSpcReduction="10000"/>
          </a:bodyPr>
          <a:lstStyle/>
          <a:p>
            <a:r>
              <a:rPr lang="tr-TR" b="1" dirty="0"/>
              <a:t>B-</a:t>
            </a:r>
            <a:r>
              <a:rPr lang="tr-TR" b="1" dirty="0" err="1"/>
              <a:t>Tree</a:t>
            </a:r>
            <a:r>
              <a:rPr lang="tr-TR" b="1" dirty="0"/>
              <a:t> Özellikleri</a:t>
            </a:r>
          </a:p>
          <a:p>
            <a:r>
              <a:rPr lang="tr-TR" dirty="0"/>
              <a:t>Dengeli ağaç yapısıdır.</a:t>
            </a:r>
          </a:p>
          <a:p>
            <a:r>
              <a:rPr lang="tr-TR" dirty="0"/>
              <a:t>Bir düğümde birden fazla veri tutulabilir.</a:t>
            </a:r>
          </a:p>
          <a:p>
            <a:r>
              <a:rPr lang="tr-TR" dirty="0"/>
              <a:t>Arama, ekleme ve silme işlemleri hızlıdır.</a:t>
            </a:r>
          </a:p>
          <a:p>
            <a:r>
              <a:rPr lang="tr-TR" dirty="0"/>
              <a:t>Büyük veriler için uygundur</a:t>
            </a:r>
            <a:r>
              <a:rPr lang="tr-TR" dirty="0" smtClean="0"/>
              <a:t>.</a:t>
            </a:r>
          </a:p>
          <a:p>
            <a:r>
              <a:rPr lang="tr-TR" b="1" dirty="0"/>
              <a:t>Avantajları</a:t>
            </a:r>
          </a:p>
          <a:p>
            <a:r>
              <a:rPr lang="tr-TR" dirty="0"/>
              <a:t>Disk okuma işlemini azaltır.</a:t>
            </a:r>
          </a:p>
          <a:p>
            <a:r>
              <a:rPr lang="tr-TR" dirty="0"/>
              <a:t>Performanslıdır.</a:t>
            </a:r>
          </a:p>
          <a:p>
            <a:r>
              <a:rPr lang="tr-TR" dirty="0"/>
              <a:t>Büyük veri kümelerinde hızlı çalışır</a:t>
            </a:r>
            <a:r>
              <a:rPr lang="tr-TR" dirty="0" smtClean="0"/>
              <a:t>.</a:t>
            </a:r>
          </a:p>
          <a:p>
            <a:r>
              <a:rPr lang="tr-TR" dirty="0"/>
              <a:t>B-</a:t>
            </a:r>
            <a:r>
              <a:rPr lang="tr-TR" dirty="0" err="1"/>
              <a:t>Tree</a:t>
            </a:r>
            <a:r>
              <a:rPr lang="tr-TR" dirty="0"/>
              <a:t> yapısında veriler düzenli şekilde saklanır. Böylece sistem tüm verileri tek tek aramak yerine doğrudan ilgili bölüme gider.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36887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B+ TREE YAPISI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28792" y="1395557"/>
            <a:ext cx="11029615" cy="3678303"/>
          </a:xfrm>
        </p:spPr>
        <p:txBody>
          <a:bodyPr/>
          <a:lstStyle/>
          <a:p>
            <a:r>
              <a:rPr lang="tr-TR" b="1" dirty="0"/>
              <a:t>B+ </a:t>
            </a:r>
            <a:r>
              <a:rPr lang="tr-TR" b="1" dirty="0" err="1"/>
              <a:t>Tree</a:t>
            </a:r>
            <a:r>
              <a:rPr lang="tr-TR" b="1" dirty="0"/>
              <a:t> Özellikleri</a:t>
            </a:r>
          </a:p>
          <a:p>
            <a:r>
              <a:rPr lang="tr-TR" dirty="0"/>
              <a:t>Tüm veriler yaprak düğümlerde tutulur.</a:t>
            </a:r>
          </a:p>
          <a:p>
            <a:r>
              <a:rPr lang="tr-TR" dirty="0"/>
              <a:t>Yaprak düğümler birbirine bağlıdır.</a:t>
            </a:r>
          </a:p>
          <a:p>
            <a:r>
              <a:rPr lang="tr-TR" dirty="0"/>
              <a:t>Sıralı veri erişimi çok hızlıdır</a:t>
            </a:r>
            <a:r>
              <a:rPr lang="tr-TR" dirty="0" smtClean="0"/>
              <a:t>.</a:t>
            </a:r>
          </a:p>
          <a:p>
            <a:r>
              <a:rPr lang="tr-TR" dirty="0"/>
              <a:t>B+ </a:t>
            </a:r>
            <a:r>
              <a:rPr lang="tr-TR" dirty="0" err="1"/>
              <a:t>Tree</a:t>
            </a:r>
            <a:r>
              <a:rPr lang="tr-TR" dirty="0"/>
              <a:t> yapısı özellikle veri tabanlarında daha fazla tercih edilmektedir çünkü sıralı veri erişiminde çok daha hızlıdır.</a:t>
            </a:r>
            <a:endParaRPr lang="tr-TR" dirty="0" smtClean="0"/>
          </a:p>
          <a:p>
            <a:endParaRPr lang="tr-TR" dirty="0"/>
          </a:p>
        </p:txBody>
      </p:sp>
      <p:graphicFrame>
        <p:nvGraphicFramePr>
          <p:cNvPr id="6" name="Tablo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44381"/>
              </p:ext>
            </p:extLst>
          </p:nvPr>
        </p:nvGraphicFramePr>
        <p:xfrm>
          <a:off x="693320" y="4753460"/>
          <a:ext cx="11029950" cy="1463040"/>
        </p:xfrm>
        <a:graphic>
          <a:graphicData uri="http://schemas.openxmlformats.org/drawingml/2006/table">
            <a:tbl>
              <a:tblPr/>
              <a:tblGrid>
                <a:gridCol w="3676650">
                  <a:extLst>
                    <a:ext uri="{9D8B030D-6E8A-4147-A177-3AD203B41FA5}">
                      <a16:colId xmlns:a16="http://schemas.microsoft.com/office/drawing/2014/main" val="973110255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1449681953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2022398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tr-TR" dirty="0"/>
                        <a:t>Özellik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r-TR"/>
                        <a:t>B-Tree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r-TR"/>
                        <a:t>B+ 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1322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/>
                        <a:t>Veri Konumu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r-TR"/>
                        <a:t>İç düğüm + yaprak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r-TR"/>
                        <a:t>Sadece yaprak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8913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/>
                        <a:t>Sıralı erişim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Daha yavaş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r-TR"/>
                        <a:t>Çok hızlı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167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/>
                        <a:t>Disk performansı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r-TR"/>
                        <a:t>İyi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Daha iyi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923888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81192" y="4285467"/>
            <a:ext cx="1230412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B-</a:t>
            </a:r>
            <a:r>
              <a:rPr kumimoji="0" lang="tr-TR" altLang="tr-TR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Tree</a:t>
            </a:r>
            <a:r>
              <a:rPr kumimoji="0" lang="tr-TR" altLang="tr-T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ile Farkları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696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B-TREE ÇİZİMİ</a:t>
            </a:r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563" y="2318083"/>
            <a:ext cx="5327323" cy="2506663"/>
          </a:xfrm>
          <a:prstGeom prst="rect">
            <a:avLst/>
          </a:prstGeom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6096000" y="2587933"/>
            <a:ext cx="557409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Üst düğümler yönlendirme yapar.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Veriler hem iç düğümlerde hem yapraklarda olabilir.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dirty="0"/>
              <a:t>Aranan veri önce ana düğümde kontrol edilir. </a:t>
            </a:r>
            <a:endParaRPr lang="tr-TR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dirty="0"/>
              <a:t> </a:t>
            </a:r>
            <a:r>
              <a:rPr lang="tr-TR" dirty="0" smtClean="0"/>
              <a:t>Daha </a:t>
            </a:r>
            <a:r>
              <a:rPr lang="tr-TR" dirty="0"/>
              <a:t>sonra uygun alt dala geçilir. </a:t>
            </a:r>
            <a:endParaRPr lang="tr-TR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dirty="0" smtClean="0"/>
              <a:t> Böylece </a:t>
            </a:r>
            <a:r>
              <a:rPr lang="tr-TR" dirty="0"/>
              <a:t>çok hızlı arama yapılır.</a:t>
            </a: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937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B+ TREE ÇİZİMİ</a:t>
            </a:r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141620"/>
            <a:ext cx="6224583" cy="2931779"/>
          </a:xfrm>
          <a:prstGeom prst="rect">
            <a:avLst/>
          </a:prstGeom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6729663" y="2453348"/>
            <a:ext cx="530177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Tüm gerçek veriler yaprak düğümlerdedir.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Yapraklar birbirine bağlıdır.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Sıralı erişim çok hızlıdır.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dirty="0"/>
              <a:t>B+ </a:t>
            </a:r>
            <a:r>
              <a:rPr lang="tr-TR" dirty="0" err="1"/>
              <a:t>Tree’de</a:t>
            </a:r>
            <a:r>
              <a:rPr lang="tr-TR" dirty="0"/>
              <a:t> yaprak düğümler birbirine bağlı olduğu </a:t>
            </a:r>
            <a:r>
              <a:rPr lang="tr-TR" dirty="0" smtClean="0"/>
              <a:t>için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dirty="0"/>
              <a:t> </a:t>
            </a:r>
            <a:r>
              <a:rPr lang="tr-TR" dirty="0" smtClean="0"/>
              <a:t> </a:t>
            </a:r>
            <a:r>
              <a:rPr lang="tr-TR" dirty="0"/>
              <a:t>sıralı veriler üzerinde gezinmek çok kolaydır.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6201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VERİ TABANLARINDA KULLANIMI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81193" y="2180496"/>
            <a:ext cx="4480092" cy="3678303"/>
          </a:xfrm>
        </p:spPr>
        <p:txBody>
          <a:bodyPr/>
          <a:lstStyle/>
          <a:p>
            <a:r>
              <a:rPr lang="tr-TR" b="1" dirty="0"/>
              <a:t>Veri Tabanlarında Neden Kullanılır?</a:t>
            </a:r>
          </a:p>
          <a:p>
            <a:r>
              <a:rPr lang="tr-TR" dirty="0"/>
              <a:t>Milyonlarca veri hızlı bulunur.</a:t>
            </a:r>
          </a:p>
          <a:p>
            <a:r>
              <a:rPr lang="tr-TR" dirty="0"/>
              <a:t>Disk erişimi azaltılır.</a:t>
            </a:r>
          </a:p>
          <a:p>
            <a:r>
              <a:rPr lang="tr-TR" dirty="0"/>
              <a:t>Sorgular hızlanır.</a:t>
            </a:r>
          </a:p>
          <a:p>
            <a:r>
              <a:rPr lang="tr-TR" dirty="0"/>
              <a:t>İndeksleme sistemi oluşturulur.</a:t>
            </a:r>
          </a:p>
        </p:txBody>
      </p:sp>
      <p:sp>
        <p:nvSpPr>
          <p:cNvPr id="4" name="Dikdörtgen 3"/>
          <p:cNvSpPr/>
          <p:nvPr/>
        </p:nvSpPr>
        <p:spPr>
          <a:xfrm>
            <a:off x="5767136" y="2726985"/>
            <a:ext cx="620027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 err="1"/>
              <a:t>MySQL</a:t>
            </a:r>
            <a:endParaRPr lang="tr-TR" b="1" dirty="0"/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B+ </a:t>
            </a:r>
            <a:r>
              <a:rPr lang="tr-TR" dirty="0" err="1"/>
              <a:t>Tree</a:t>
            </a:r>
            <a:r>
              <a:rPr lang="tr-TR" dirty="0"/>
              <a:t> indeksleme kullanır.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SELECT sorgularını hızlandırır.</a:t>
            </a:r>
          </a:p>
          <a:p>
            <a:r>
              <a:rPr lang="tr-TR" b="1" dirty="0" err="1"/>
              <a:t>PostgreSQL</a:t>
            </a:r>
            <a:endParaRPr lang="tr-TR" b="1" dirty="0"/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Varsayılan indeks yapısı B-</a:t>
            </a:r>
            <a:r>
              <a:rPr lang="tr-TR" dirty="0" err="1"/>
              <a:t>Tree’dir</a:t>
            </a:r>
            <a:r>
              <a:rPr lang="tr-T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Büyük veri işlemlerinde performans sağlar.</a:t>
            </a:r>
          </a:p>
          <a:p>
            <a:r>
              <a:rPr lang="tr-TR" b="1" dirty="0" err="1"/>
              <a:t>MongoDB</a:t>
            </a:r>
            <a:endParaRPr lang="tr-TR" b="1" dirty="0"/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B-</a:t>
            </a:r>
            <a:r>
              <a:rPr lang="tr-TR" dirty="0" err="1"/>
              <a:t>Tree</a:t>
            </a:r>
            <a:r>
              <a:rPr lang="tr-TR" dirty="0"/>
              <a:t> benzeri indeksleme yapıları kullanır.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Büyük veri erişimini hızlandırır.</a:t>
            </a:r>
          </a:p>
        </p:txBody>
      </p:sp>
      <p:sp>
        <p:nvSpPr>
          <p:cNvPr id="5" name="Dikdörtgen 4"/>
          <p:cNvSpPr/>
          <p:nvPr/>
        </p:nvSpPr>
        <p:spPr>
          <a:xfrm>
            <a:off x="581192" y="544798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dirty="0"/>
              <a:t>Bugün kullandığımız birçok veri tabanı sistemi aslında arka planda B-</a:t>
            </a:r>
            <a:r>
              <a:rPr lang="tr-TR" dirty="0" err="1"/>
              <a:t>Tree</a:t>
            </a:r>
            <a:r>
              <a:rPr lang="tr-TR" dirty="0"/>
              <a:t> veya B+ </a:t>
            </a:r>
            <a:r>
              <a:rPr lang="tr-TR" dirty="0" err="1"/>
              <a:t>Tree</a:t>
            </a:r>
            <a:r>
              <a:rPr lang="tr-TR" dirty="0"/>
              <a:t> mantığıyla çalışmaktadır.</a:t>
            </a:r>
          </a:p>
        </p:txBody>
      </p:sp>
    </p:spTree>
    <p:extLst>
      <p:ext uri="{BB962C8B-B14F-4D97-AF65-F5344CB8AC3E}">
        <p14:creationId xmlns:p14="http://schemas.microsoft.com/office/powerpoint/2010/main" val="145488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 SİSTEMLERİNDE KULLANIMI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81193" y="2172475"/>
            <a:ext cx="11029615" cy="4420830"/>
          </a:xfrm>
        </p:spPr>
        <p:txBody>
          <a:bodyPr>
            <a:normAutofit/>
          </a:bodyPr>
          <a:lstStyle/>
          <a:p>
            <a:r>
              <a:rPr lang="tr-TR" b="1" dirty="0"/>
              <a:t>Kullanım Alanları</a:t>
            </a:r>
          </a:p>
          <a:p>
            <a:r>
              <a:rPr lang="tr-TR" dirty="0"/>
              <a:t>NTFS</a:t>
            </a:r>
          </a:p>
          <a:p>
            <a:r>
              <a:rPr lang="tr-TR" dirty="0"/>
              <a:t>ext4</a:t>
            </a:r>
          </a:p>
          <a:p>
            <a:r>
              <a:rPr lang="tr-TR" dirty="0"/>
              <a:t>HFS+</a:t>
            </a:r>
          </a:p>
          <a:p>
            <a:r>
              <a:rPr lang="tr-TR" b="1" dirty="0"/>
              <a:t>Amaçları</a:t>
            </a:r>
          </a:p>
          <a:p>
            <a:r>
              <a:rPr lang="tr-TR" dirty="0"/>
              <a:t>Dosyalara hızlı erişim</a:t>
            </a:r>
          </a:p>
          <a:p>
            <a:r>
              <a:rPr lang="tr-TR" dirty="0"/>
              <a:t>Dosya sıralamasını koruma</a:t>
            </a:r>
          </a:p>
          <a:p>
            <a:r>
              <a:rPr lang="tr-TR" dirty="0"/>
              <a:t>Disk performansını artırma</a:t>
            </a:r>
          </a:p>
          <a:p>
            <a:r>
              <a:rPr lang="tr-TR" b="1" dirty="0"/>
              <a:t>Örnek</a:t>
            </a:r>
          </a:p>
          <a:p>
            <a:r>
              <a:rPr lang="tr-TR" dirty="0"/>
              <a:t>Bilgisayardaki binlerce dosya içinde hızlı arama yapılması</a:t>
            </a:r>
            <a:r>
              <a:rPr lang="tr-TR" dirty="0" smtClean="0"/>
              <a:t>.</a:t>
            </a:r>
          </a:p>
          <a:p>
            <a:r>
              <a:rPr lang="tr-TR" dirty="0"/>
              <a:t>Bilgisayarımızdaki dosyalara saniyeler içinde ulaşabilmemizin sebeplerinden biri de bu veri yapılarıdır.</a:t>
            </a:r>
          </a:p>
        </p:txBody>
      </p:sp>
    </p:spTree>
    <p:extLst>
      <p:ext uri="{BB962C8B-B14F-4D97-AF65-F5344CB8AC3E}">
        <p14:creationId xmlns:p14="http://schemas.microsoft.com/office/powerpoint/2010/main" val="899823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ARAMA MOTORLARI VE BÜYÜK VERİ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517083"/>
          </a:xfrm>
        </p:spPr>
        <p:txBody>
          <a:bodyPr>
            <a:normAutofit/>
          </a:bodyPr>
          <a:lstStyle/>
          <a:p>
            <a:r>
              <a:rPr lang="tr-TR" b="1" dirty="0"/>
              <a:t>Arama Motorlarında</a:t>
            </a:r>
          </a:p>
          <a:p>
            <a:r>
              <a:rPr lang="tr-TR" dirty="0"/>
              <a:t>Hızlı indeksleme sağlar.</a:t>
            </a:r>
          </a:p>
          <a:p>
            <a:r>
              <a:rPr lang="tr-TR" dirty="0"/>
              <a:t>Verileri düzenli saklar.</a:t>
            </a:r>
          </a:p>
          <a:p>
            <a:r>
              <a:rPr lang="tr-TR" dirty="0"/>
              <a:t>Arama süresini azaltır.</a:t>
            </a:r>
          </a:p>
          <a:p>
            <a:r>
              <a:rPr lang="tr-TR" b="1" dirty="0"/>
              <a:t>Büyük Veri Sistemlerinde</a:t>
            </a:r>
          </a:p>
          <a:p>
            <a:r>
              <a:rPr lang="tr-TR" dirty="0"/>
              <a:t>Terabaytlarca veriyi yönetir.</a:t>
            </a:r>
          </a:p>
          <a:p>
            <a:r>
              <a:rPr lang="tr-TR" dirty="0"/>
              <a:t>Ölçeklenebilir yapı sunar.</a:t>
            </a:r>
          </a:p>
          <a:p>
            <a:r>
              <a:rPr lang="tr-TR" dirty="0"/>
              <a:t>Yüksek performans sağlar</a:t>
            </a:r>
            <a:r>
              <a:rPr lang="tr-TR" dirty="0" smtClean="0"/>
              <a:t>.</a:t>
            </a:r>
          </a:p>
          <a:p>
            <a:r>
              <a:rPr lang="tr-TR" dirty="0"/>
              <a:t>Google gibi sistemlerde milyarlarca veri bulunmaktadır. Bu kadar büyük veri içinde hızlı arama yapılabilmesi için gelişmiş ağaç yapıları kullanılmaktadır.</a:t>
            </a:r>
          </a:p>
        </p:txBody>
      </p:sp>
    </p:spTree>
    <p:extLst>
      <p:ext uri="{BB962C8B-B14F-4D97-AF65-F5344CB8AC3E}">
        <p14:creationId xmlns:p14="http://schemas.microsoft.com/office/powerpoint/2010/main" val="1766756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NEDEN MODERN SİSTEMLERDE TERCİH EDİLİR?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252388"/>
          </a:xfrm>
        </p:spPr>
        <p:txBody>
          <a:bodyPr>
            <a:normAutofit lnSpcReduction="10000"/>
          </a:bodyPr>
          <a:lstStyle/>
          <a:p>
            <a:r>
              <a:rPr lang="tr-TR" b="1" dirty="0"/>
              <a:t>Sebepler</a:t>
            </a:r>
          </a:p>
          <a:p>
            <a:r>
              <a:rPr lang="tr-TR" b="1" dirty="0"/>
              <a:t>1. Hızlı Veri Erişimi</a:t>
            </a:r>
          </a:p>
          <a:p>
            <a:r>
              <a:rPr lang="tr-TR" dirty="0"/>
              <a:t>Milyonlarca kayıt arasında hızlı arama.</a:t>
            </a:r>
          </a:p>
          <a:p>
            <a:r>
              <a:rPr lang="tr-TR" b="1" dirty="0"/>
              <a:t>2. Disk Dostu Yapı</a:t>
            </a:r>
          </a:p>
          <a:p>
            <a:r>
              <a:rPr lang="tr-TR" dirty="0"/>
              <a:t>Disk okuma işlemlerini azaltır.</a:t>
            </a:r>
          </a:p>
          <a:p>
            <a:r>
              <a:rPr lang="tr-TR" b="1" dirty="0"/>
              <a:t>3. Dengeli Yapı</a:t>
            </a:r>
          </a:p>
          <a:p>
            <a:r>
              <a:rPr lang="tr-TR" dirty="0"/>
              <a:t>Performans kaybını önler.</a:t>
            </a:r>
          </a:p>
          <a:p>
            <a:r>
              <a:rPr lang="tr-TR" b="1" dirty="0"/>
              <a:t>4. Büyük Veri Uyumu</a:t>
            </a:r>
          </a:p>
          <a:p>
            <a:r>
              <a:rPr lang="tr-TR" dirty="0"/>
              <a:t>Modern sistemler için uygundur.</a:t>
            </a:r>
          </a:p>
          <a:p>
            <a:r>
              <a:rPr lang="tr-TR" b="1" dirty="0"/>
              <a:t>5. Sıralı Veri Performansı</a:t>
            </a:r>
          </a:p>
          <a:p>
            <a:r>
              <a:rPr lang="tr-TR" dirty="0"/>
              <a:t>Özellikle B+ </a:t>
            </a:r>
            <a:r>
              <a:rPr lang="tr-TR" dirty="0" err="1"/>
              <a:t>Tree</a:t>
            </a:r>
            <a:r>
              <a:rPr lang="tr-TR" dirty="0"/>
              <a:t> bu konuda çok güçlüdür.</a:t>
            </a:r>
          </a:p>
        </p:txBody>
      </p:sp>
      <p:sp>
        <p:nvSpPr>
          <p:cNvPr id="4" name="Dikdörtgen 3"/>
          <p:cNvSpPr/>
          <p:nvPr/>
        </p:nvSpPr>
        <p:spPr>
          <a:xfrm>
            <a:off x="5514807" y="206309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dirty="0"/>
              <a:t>Modern sistemlerde hız çok önemlidir. Bu veri yapıları hem hızlı hem de verimli çalıştıkları için tercih edilmektedir.</a:t>
            </a:r>
          </a:p>
        </p:txBody>
      </p:sp>
    </p:spTree>
    <p:extLst>
      <p:ext uri="{BB962C8B-B14F-4D97-AF65-F5344CB8AC3E}">
        <p14:creationId xmlns:p14="http://schemas.microsoft.com/office/powerpoint/2010/main" val="77644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GÜNLÜK HAYAT BENZETMESİ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Kütüphane Sistemi</a:t>
            </a:r>
          </a:p>
          <a:p>
            <a:r>
              <a:rPr lang="tr-TR" b="1" dirty="0"/>
              <a:t>Benzetme</a:t>
            </a:r>
          </a:p>
          <a:p>
            <a:r>
              <a:rPr lang="tr-TR" dirty="0"/>
              <a:t>Ana raflar → iç düğümler</a:t>
            </a:r>
          </a:p>
          <a:p>
            <a:r>
              <a:rPr lang="tr-TR" dirty="0"/>
              <a:t>Kitap rafları → yaprak düğümler</a:t>
            </a:r>
          </a:p>
          <a:p>
            <a:r>
              <a:rPr lang="tr-TR" dirty="0"/>
              <a:t>Kitap kategorileri → veri yönlendirmesi</a:t>
            </a:r>
          </a:p>
          <a:p>
            <a:r>
              <a:rPr lang="tr-TR" b="1" dirty="0"/>
              <a:t>Avantajı</a:t>
            </a:r>
          </a:p>
          <a:p>
            <a:r>
              <a:rPr lang="tr-TR" dirty="0"/>
              <a:t>Tüm kütüphaneyi gezmeden kitaba ulaşılır</a:t>
            </a:r>
            <a:r>
              <a:rPr lang="tr-TR" dirty="0" smtClean="0"/>
              <a:t>.</a:t>
            </a:r>
          </a:p>
          <a:p>
            <a:r>
              <a:rPr lang="tr-TR" dirty="0"/>
              <a:t>Bir kütüphanede önce kategoriye gideriz, sonra ilgili rafa ulaşırız. B+ </a:t>
            </a:r>
            <a:r>
              <a:rPr lang="tr-TR" dirty="0" err="1"/>
              <a:t>Tree</a:t>
            </a:r>
            <a:r>
              <a:rPr lang="tr-TR" dirty="0"/>
              <a:t> sistemi de aynı mantıkla çalışır</a:t>
            </a:r>
          </a:p>
        </p:txBody>
      </p:sp>
    </p:spTree>
    <p:extLst>
      <p:ext uri="{BB962C8B-B14F-4D97-AF65-F5344CB8AC3E}">
        <p14:creationId xmlns:p14="http://schemas.microsoft.com/office/powerpoint/2010/main" val="44179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TELEFON REHBERİ BENZETMESİ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300515"/>
          </a:xfrm>
        </p:spPr>
        <p:txBody>
          <a:bodyPr/>
          <a:lstStyle/>
          <a:p>
            <a:r>
              <a:rPr lang="tr-TR" b="1" dirty="0"/>
              <a:t>Telefon Rehberi</a:t>
            </a:r>
          </a:p>
          <a:p>
            <a:r>
              <a:rPr lang="tr-TR" dirty="0"/>
              <a:t>İsimler alfabetik sıralıdır.</a:t>
            </a:r>
          </a:p>
          <a:p>
            <a:r>
              <a:rPr lang="tr-TR" dirty="0"/>
              <a:t>Aranan kişi doğrudan ilgili harfte bulunur.</a:t>
            </a:r>
          </a:p>
          <a:p>
            <a:r>
              <a:rPr lang="tr-TR" dirty="0"/>
              <a:t>Gereksiz arama yapılmaz.</a:t>
            </a:r>
          </a:p>
          <a:p>
            <a:r>
              <a:rPr lang="tr-TR" b="1" dirty="0"/>
              <a:t>Veri Yapısıyla İlişkisi</a:t>
            </a:r>
          </a:p>
          <a:p>
            <a:r>
              <a:rPr lang="tr-TR" dirty="0"/>
              <a:t>Bu sistem B-</a:t>
            </a:r>
            <a:r>
              <a:rPr lang="tr-TR" dirty="0" err="1"/>
              <a:t>Tree</a:t>
            </a:r>
            <a:r>
              <a:rPr lang="tr-TR" dirty="0"/>
              <a:t> mantığına benzer</a:t>
            </a:r>
            <a:r>
              <a:rPr lang="tr-TR" dirty="0" smtClean="0"/>
              <a:t>.</a:t>
            </a:r>
          </a:p>
          <a:p>
            <a:r>
              <a:rPr lang="tr-TR" dirty="0"/>
              <a:t>Telefon rehberinde herkes tek tek aranmaz. Önce harf bölümüne gidilir. Bu da ağaç yapılarının mantığına </a:t>
            </a:r>
            <a:r>
              <a:rPr lang="tr-TR" dirty="0" smtClean="0"/>
              <a:t>benzemektedir</a:t>
            </a:r>
          </a:p>
        </p:txBody>
      </p:sp>
    </p:spTree>
    <p:extLst>
      <p:ext uri="{BB962C8B-B14F-4D97-AF65-F5344CB8AC3E}">
        <p14:creationId xmlns:p14="http://schemas.microsoft.com/office/powerpoint/2010/main" val="1220867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HASTANE ARŞİV SİSTEMİ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/>
              <a:t>Hastane Örneği</a:t>
            </a:r>
          </a:p>
          <a:p>
            <a:r>
              <a:rPr lang="tr-TR" dirty="0"/>
              <a:t>Hasta kayıtları sıralanır.</a:t>
            </a:r>
          </a:p>
          <a:p>
            <a:r>
              <a:rPr lang="tr-TR" dirty="0"/>
              <a:t>Kimlik numarasına göre erişim yapılır.</a:t>
            </a:r>
          </a:p>
          <a:p>
            <a:r>
              <a:rPr lang="tr-TR" dirty="0"/>
              <a:t>Hızlı veri erişimi gerekir.</a:t>
            </a:r>
          </a:p>
          <a:p>
            <a:r>
              <a:rPr lang="tr-TR" b="1" dirty="0"/>
              <a:t>Faydaları</a:t>
            </a:r>
          </a:p>
          <a:p>
            <a:r>
              <a:rPr lang="tr-TR" dirty="0"/>
              <a:t>Bekleme süresi azalır.</a:t>
            </a:r>
          </a:p>
          <a:p>
            <a:r>
              <a:rPr lang="tr-TR" dirty="0"/>
              <a:t>Veri kaybı önlenir.</a:t>
            </a:r>
          </a:p>
          <a:p>
            <a:r>
              <a:rPr lang="tr-TR" dirty="0"/>
              <a:t>Düzenli arşiv oluşur.</a:t>
            </a:r>
          </a:p>
          <a:p>
            <a:r>
              <a:rPr lang="tr-TR" dirty="0" smtClean="0"/>
              <a:t>Hastanelerde </a:t>
            </a:r>
            <a:r>
              <a:rPr lang="tr-TR" dirty="0"/>
              <a:t>milyonlarca kayıt vardır. Bu kayıtların hızlı bulunması hayat kurtarıcı olabilir</a:t>
            </a:r>
            <a:r>
              <a:rPr lang="tr-TR" dirty="0" smtClean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03927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BU VERİ YAPILARI NEDEN ÖNEMLİ?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Önemi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Veri erişimini hızlandırır.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Sistem performansını artırır.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Büyük verilerin yönetimini kolaylaştırır.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Modern yazılımların temelini oluşturur.</a:t>
            </a:r>
          </a:p>
          <a:p>
            <a:r>
              <a:rPr lang="tr-TR" dirty="0"/>
              <a:t>Bu veri yapıları olmasaydı günümüzdeki hızlı veri tabanları ve arama motorları mümkün olmayabilirdi.</a:t>
            </a:r>
          </a:p>
        </p:txBody>
      </p:sp>
    </p:spTree>
    <p:extLst>
      <p:ext uri="{BB962C8B-B14F-4D97-AF65-F5344CB8AC3E}">
        <p14:creationId xmlns:p14="http://schemas.microsoft.com/office/powerpoint/2010/main" val="838295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BÜYÜK VERİ ÇAĞINDA NEDEN GEREKLİ?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260409"/>
          </a:xfrm>
        </p:spPr>
        <p:txBody>
          <a:bodyPr>
            <a:normAutofit fontScale="92500" lnSpcReduction="20000"/>
          </a:bodyPr>
          <a:lstStyle/>
          <a:p>
            <a:r>
              <a:rPr lang="tr-TR" b="1" dirty="0"/>
              <a:t>Günümüzde</a:t>
            </a:r>
          </a:p>
          <a:p>
            <a:r>
              <a:rPr lang="tr-TR" dirty="0"/>
              <a:t>Sosyal medya</a:t>
            </a:r>
          </a:p>
          <a:p>
            <a:r>
              <a:rPr lang="tr-TR" dirty="0"/>
              <a:t>E-ticaret</a:t>
            </a:r>
          </a:p>
          <a:p>
            <a:r>
              <a:rPr lang="tr-TR" dirty="0"/>
              <a:t>Bankacılık</a:t>
            </a:r>
          </a:p>
          <a:p>
            <a:r>
              <a:rPr lang="tr-TR" dirty="0"/>
              <a:t>Yapay zekâ</a:t>
            </a:r>
          </a:p>
          <a:p>
            <a:r>
              <a:rPr lang="tr-TR" dirty="0"/>
              <a:t>çok büyük veri üretmektedir.</a:t>
            </a:r>
          </a:p>
          <a:p>
            <a:r>
              <a:rPr lang="tr-TR" b="1" dirty="0"/>
              <a:t>Bu Yapıların Katkısı</a:t>
            </a:r>
          </a:p>
          <a:p>
            <a:r>
              <a:rPr lang="tr-TR" dirty="0"/>
              <a:t>Verimli indeksleme</a:t>
            </a:r>
          </a:p>
          <a:p>
            <a:r>
              <a:rPr lang="tr-TR" dirty="0"/>
              <a:t>Hızlı erişim</a:t>
            </a:r>
          </a:p>
          <a:p>
            <a:r>
              <a:rPr lang="tr-TR" dirty="0"/>
              <a:t>Daha az disk kullanımı</a:t>
            </a:r>
          </a:p>
          <a:p>
            <a:r>
              <a:rPr lang="tr-TR" dirty="0"/>
              <a:t>Performans </a:t>
            </a:r>
            <a:r>
              <a:rPr lang="tr-TR" dirty="0" smtClean="0"/>
              <a:t>artışı</a:t>
            </a:r>
          </a:p>
          <a:p>
            <a:r>
              <a:rPr lang="tr-TR" dirty="0"/>
              <a:t>Her gün devasa miktarda veri oluşmaktadır. Bu verilerin yönetilebilmesi için güçlü veri yapıları gereklidir.</a:t>
            </a:r>
          </a:p>
        </p:txBody>
      </p:sp>
    </p:spTree>
    <p:extLst>
      <p:ext uri="{BB962C8B-B14F-4D97-AF65-F5344CB8AC3E}">
        <p14:creationId xmlns:p14="http://schemas.microsoft.com/office/powerpoint/2010/main" val="2300634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Kısa Özet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B-</a:t>
            </a:r>
            <a:r>
              <a:rPr lang="tr-TR" dirty="0" err="1" smtClean="0"/>
              <a:t>Tree</a:t>
            </a:r>
            <a:r>
              <a:rPr lang="tr-TR" dirty="0" smtClean="0"/>
              <a:t> </a:t>
            </a:r>
            <a:r>
              <a:rPr lang="tr-TR" dirty="0"/>
              <a:t>ve B+ </a:t>
            </a:r>
            <a:r>
              <a:rPr lang="tr-TR" dirty="0" err="1"/>
              <a:t>Tree</a:t>
            </a:r>
            <a:r>
              <a:rPr lang="tr-TR" dirty="0"/>
              <a:t> veri yapıları büyük miktardaki verilerin hızlı şekilde saklanması ve erişilmesi için kullanılan dengeli ağaç yapılarıdır. Günümüzde veri tabanları, dosya sistemleri ve büyük veri teknolojilerinde yaygın olarak kullanılmaktadır. Özellikle B+ </a:t>
            </a:r>
            <a:r>
              <a:rPr lang="tr-TR" dirty="0" err="1"/>
              <a:t>Tree</a:t>
            </a:r>
            <a:r>
              <a:rPr lang="tr-TR" dirty="0"/>
              <a:t> yapısı sıralı veri erişiminde yüksek performans sağlamaktadır. </a:t>
            </a:r>
            <a:r>
              <a:rPr lang="tr-TR" dirty="0" err="1"/>
              <a:t>MySQL</a:t>
            </a:r>
            <a:r>
              <a:rPr lang="tr-TR" dirty="0"/>
              <a:t>, </a:t>
            </a:r>
            <a:r>
              <a:rPr lang="tr-TR" dirty="0" err="1"/>
              <a:t>PostgreSQL</a:t>
            </a:r>
            <a:r>
              <a:rPr lang="tr-TR" dirty="0"/>
              <a:t> ve </a:t>
            </a:r>
            <a:r>
              <a:rPr lang="tr-TR" dirty="0" err="1"/>
              <a:t>MongoDB</a:t>
            </a:r>
            <a:r>
              <a:rPr lang="tr-TR" dirty="0"/>
              <a:t> gibi sistemler bu yapılardan faydalanmaktadır. Büyük veri çağında hızlı veri erişimi çok önemli olduğu için bu veri yapıları gelecekte de kullanılmaya devam edecektir.</a:t>
            </a:r>
          </a:p>
        </p:txBody>
      </p:sp>
    </p:spTree>
    <p:extLst>
      <p:ext uri="{BB962C8B-B14F-4D97-AF65-F5344CB8AC3E}">
        <p14:creationId xmlns:p14="http://schemas.microsoft.com/office/powerpoint/2010/main" val="3452026660"/>
      </p:ext>
    </p:extLst>
  </p:cSld>
  <p:clrMapOvr>
    <a:masterClrMapping/>
  </p:clrMapOvr>
</p:sld>
</file>

<file path=ppt/theme/theme1.xml><?xml version="1.0" encoding="utf-8"?>
<a:theme xmlns:a="http://schemas.openxmlformats.org/drawingml/2006/main" name="Kar Payı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Kar Payı</Template>
  <TotalTime>0</TotalTime>
  <Words>830</Words>
  <Application>Microsoft Office PowerPoint</Application>
  <PresentationFormat>Geniş ekran</PresentationFormat>
  <Paragraphs>153</Paragraphs>
  <Slides>15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19" baseType="lpstr">
      <vt:lpstr>Arial</vt:lpstr>
      <vt:lpstr>Gill Sans MT</vt:lpstr>
      <vt:lpstr>Wingdings 2</vt:lpstr>
      <vt:lpstr>Kar Payı</vt:lpstr>
      <vt:lpstr>B ve B+ Ağaçlarının Günümüzde Kullanım Alanları</vt:lpstr>
      <vt:lpstr>B-TREE YAPISI</vt:lpstr>
      <vt:lpstr>B+ TREE YAPISI</vt:lpstr>
      <vt:lpstr>B-TREE ÇİZİMİ</vt:lpstr>
      <vt:lpstr>B+ TREE ÇİZİMİ</vt:lpstr>
      <vt:lpstr>VERİ TABANLARINDA KULLANIMI</vt:lpstr>
      <vt:lpstr>DOSYA SİSTEMLERİNDE KULLANIMI</vt:lpstr>
      <vt:lpstr>ARAMA MOTORLARI VE BÜYÜK VERİ</vt:lpstr>
      <vt:lpstr>NEDEN MODERN SİSTEMLERDE TERCİH EDİLİR?</vt:lpstr>
      <vt:lpstr>GÜNLÜK HAYAT BENZETMESİ</vt:lpstr>
      <vt:lpstr>TELEFON REHBERİ BENZETMESİ</vt:lpstr>
      <vt:lpstr>HASTANE ARŞİV SİSTEMİ</vt:lpstr>
      <vt:lpstr>BU VERİ YAPILARI NEDEN ÖNEMLİ?</vt:lpstr>
      <vt:lpstr>BÜYÜK VERİ ÇAĞINDA NEDEN GEREKLİ?</vt:lpstr>
      <vt:lpstr>Kısa Özet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 ve B+ Ağaçlarının Günümüzde Kullanım Alanları</dc:title>
  <dc:creator>V A R O L A Y S S</dc:creator>
  <cp:lastModifiedBy>V A R O L A Y S S</cp:lastModifiedBy>
  <cp:revision>3</cp:revision>
  <dcterms:created xsi:type="dcterms:W3CDTF">2026-05-19T09:39:37Z</dcterms:created>
  <dcterms:modified xsi:type="dcterms:W3CDTF">2026-05-19T10:02:54Z</dcterms:modified>
</cp:coreProperties>
</file>